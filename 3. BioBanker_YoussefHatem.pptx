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3"/>
  </p:normalViewPr>
  <p:slideViewPr>
    <p:cSldViewPr snapToGrid="0" snapToObjects="1">
      <p:cViewPr varScale="1">
        <p:scale>
          <a:sx n="117" d="100"/>
          <a:sy n="117" d="100"/>
        </p:scale>
        <p:origin x="3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08760" cy="1125826"/>
          </a:xfrm>
          <a:prstGeom prst="rect">
            <a:avLst/>
          </a:prstGeom>
        </p:spPr>
      </p:pic>
      <p:pic>
        <p:nvPicPr>
          <p:cNvPr id="3" name="Picture 2" descr="bio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4592"/>
            <a:ext cx="3154680" cy="1121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2688"/>
            <a:ext cx="12191695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45566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B90000"/>
                </a:solidFill>
                <a:latin typeface="Times New Roman"/>
              </a:defRPr>
            </a:pPr>
            <a:r>
              <a:t>Fundamentals of Databases (CBIO204)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B90000"/>
                </a:solidFill>
                <a:latin typeface="Times New Roman"/>
              </a:defRPr>
            </a:pPr>
            <a:r>
              <a:t>Spring,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B90000"/>
                </a:solidFill>
                <a:latin typeface="Times New Roman"/>
              </a:defRPr>
            </a:pPr>
            <a:r>
              <a:t>Biobank and Biospecimen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B3943"/>
                </a:solidFill>
                <a:latin typeface="Times New Roman"/>
              </a:defRPr>
            </a:pPr>
            <a:r>
              <a:t>Student: Youssef Hatem - 202000579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55555"/>
                </a:solidFill>
                <a:latin typeface="Times New Roman"/>
              </a:defRPr>
            </a:pPr>
            <a:r>
              <a:t>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08760" cy="1125826"/>
          </a:xfrm>
          <a:prstGeom prst="rect">
            <a:avLst/>
          </a:prstGeom>
        </p:spPr>
      </p:pic>
      <p:pic>
        <p:nvPicPr>
          <p:cNvPr id="3" name="Picture 2" descr="bio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4592"/>
            <a:ext cx="3154680" cy="1121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2688"/>
            <a:ext cx="12191695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45566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B90000"/>
                </a:solidFill>
                <a:latin typeface="Times New Roman"/>
              </a:defRPr>
            </a:pPr>
            <a:r>
              <a:t>Introduction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28800"/>
            <a:ext cx="5440680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1828800"/>
            <a:ext cx="5440680" cy="3886200"/>
          </a:xfrm>
          <a:prstGeom prst="roundRect">
            <a:avLst/>
          </a:prstGeom>
          <a:solidFill>
            <a:srgbClr val="F5E6DB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B90000"/>
                </a:solidFill>
                <a:latin typeface="Times New Roman"/>
              </a:defRPr>
            </a:pPr>
            <a:r>
              <a:t>What is BioBanker?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97480"/>
            <a:ext cx="4572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B3943"/>
                </a:solidFill>
                <a:latin typeface="Times New Roman"/>
              </a:defRPr>
            </a:pPr>
            <a:r>
              <a:t>BioBanker is a database for managing a small research biobank. It keeps donor, consent, collection, sample, storage, aliquot, researcher, test-request, and usage information connected.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B3943"/>
                </a:solidFill>
                <a:latin typeface="Times New Roman"/>
              </a:defRPr>
            </a:pPr>
            <a:r>
              <a:t>The project focuses on research biospecimen management rather than clinical diagnosis or treatment. The donor data is synthetic.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84831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B90000"/>
                </a:solidFill>
                <a:latin typeface="Times New Roman"/>
              </a:defRPr>
            </a:pPr>
            <a:r>
              <a:t>Project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97480"/>
            <a:ext cx="44805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B3943"/>
                </a:solidFill>
                <a:latin typeface="Times New Roman"/>
              </a:defRPr>
            </a:pPr>
            <a:r>
              <a:t>• Manage donors and consent</a:t>
            </a:r>
          </a:p>
          <a:p>
            <a:pPr>
              <a:spcAft>
                <a:spcPts val="500"/>
              </a:spcAft>
              <a:defRPr sz="1600">
                <a:solidFill>
                  <a:srgbClr val="2B3943"/>
                </a:solidFill>
                <a:latin typeface="Times New Roman"/>
              </a:defRPr>
            </a:pPr>
            <a:r>
              <a:t>• Record collection events and sample types</a:t>
            </a:r>
          </a:p>
          <a:p>
            <a:pPr>
              <a:spcAft>
                <a:spcPts val="500"/>
              </a:spcAft>
              <a:defRPr sz="1600">
                <a:solidFill>
                  <a:srgbClr val="2B3943"/>
                </a:solidFill>
                <a:latin typeface="Times New Roman"/>
              </a:defRPr>
            </a:pPr>
            <a:r>
              <a:t>• Track freezer/shelf/box storage</a:t>
            </a:r>
          </a:p>
          <a:p>
            <a:pPr>
              <a:spcAft>
                <a:spcPts val="500"/>
              </a:spcAft>
              <a:defRPr sz="1600">
                <a:solidFill>
                  <a:srgbClr val="2B3943"/>
                </a:solidFill>
                <a:latin typeface="Times New Roman"/>
              </a:defRPr>
            </a:pPr>
            <a:r>
              <a:t>• Manage samples and aliquots</a:t>
            </a:r>
          </a:p>
          <a:p>
            <a:pPr>
              <a:spcAft>
                <a:spcPts val="500"/>
              </a:spcAft>
              <a:defRPr sz="1600">
                <a:solidFill>
                  <a:srgbClr val="2B3943"/>
                </a:solidFill>
                <a:latin typeface="Times New Roman"/>
              </a:defRPr>
            </a:pPr>
            <a:r>
              <a:t>• Record researchers and test requests</a:t>
            </a:r>
          </a:p>
          <a:p>
            <a:pPr>
              <a:spcAft>
                <a:spcPts val="500"/>
              </a:spcAft>
              <a:defRPr sz="1600">
                <a:solidFill>
                  <a:srgbClr val="2B3943"/>
                </a:solidFill>
                <a:latin typeface="Times New Roman"/>
              </a:defRPr>
            </a:pPr>
            <a:r>
              <a:t>• Record sample usage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08760" cy="1125826"/>
          </a:xfrm>
          <a:prstGeom prst="rect">
            <a:avLst/>
          </a:prstGeom>
        </p:spPr>
      </p:pic>
      <p:pic>
        <p:nvPicPr>
          <p:cNvPr id="3" name="Picture 2" descr="bio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4592"/>
            <a:ext cx="3154680" cy="1121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2688"/>
            <a:ext cx="12191695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45566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B90000"/>
                </a:solidFill>
                <a:latin typeface="Times New Roman"/>
              </a:defRPr>
            </a:pPr>
            <a:r>
              <a:t>Requirements and Business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19072"/>
            <a:ext cx="553212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9632" y="1719072"/>
            <a:ext cx="5486400" cy="4251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90000"/>
                </a:solidFill>
                <a:latin typeface="Times New Roman"/>
              </a:defRPr>
            </a:pPr>
            <a:r>
              <a:t>Main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47548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Manage donor and consent information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Record collection events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Manage samples, sample types, and storage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Manage aliquots and remaining volume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Record researchers and test requests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Connect samples and requests using an associative table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Record actual sample usage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385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90000"/>
                </a:solidFill>
                <a:latin typeface="Times New Roman"/>
              </a:defRPr>
            </a:pPr>
            <a:r>
              <a:t>Major business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14600"/>
            <a:ext cx="466344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Donor/sample/researcher/aliquot codes are unique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Foreign keys must reference valid records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Available volume cannot exceed collected volume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Aliquot current volume cannot exceed original volume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One request belongs to one researcher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Samples and requests have an M:N relationship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Aliquot over-use is rejected by the trigger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08760" cy="1125826"/>
          </a:xfrm>
          <a:prstGeom prst="rect">
            <a:avLst/>
          </a:prstGeom>
        </p:spPr>
      </p:pic>
      <p:pic>
        <p:nvPicPr>
          <p:cNvPr id="3" name="Picture 2" descr="bio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4592"/>
            <a:ext cx="3154680" cy="1121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2688"/>
            <a:ext cx="12191695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45566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B90000"/>
                </a:solidFill>
                <a:latin typeface="Times New Roman"/>
              </a:defRPr>
            </a:pPr>
            <a:r>
              <a:t>Entity-Relationship Diagram (ERD)</a:t>
            </a:r>
          </a:p>
        </p:txBody>
      </p:sp>
      <p:pic>
        <p:nvPicPr>
          <p:cNvPr id="7" name="Picture 6" descr="E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600200"/>
            <a:ext cx="112014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08760" cy="1125826"/>
          </a:xfrm>
          <a:prstGeom prst="rect">
            <a:avLst/>
          </a:prstGeom>
        </p:spPr>
      </p:pic>
      <p:pic>
        <p:nvPicPr>
          <p:cNvPr id="3" name="Picture 2" descr="bio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4592"/>
            <a:ext cx="3154680" cy="1121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2688"/>
            <a:ext cx="12191695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45566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B90000"/>
                </a:solidFill>
                <a:latin typeface="Times New Roman"/>
              </a:defRPr>
            </a:pPr>
            <a:r>
              <a:t>Entities and Key Decisions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00200"/>
          <a:ext cx="111556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31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90000"/>
                          </a:solidFill>
                          <a:latin typeface="Times New Roman"/>
                        </a:defRPr>
                      </a:pPr>
                      <a:r>
                        <a:t>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90000"/>
                          </a:solidFill>
                          <a:latin typeface="Times New Roman"/>
                        </a:defRPr>
                      </a:pPr>
                      <a:r>
                        <a:t>Key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B90000"/>
                          </a:solidFill>
                          <a:latin typeface="Times New Roman"/>
                        </a:defRPr>
                      </a:pPr>
                      <a: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DONORS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PK donor_id; UQ donor_code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Donor records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CONSENT_RECORDS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PK consent_id; FK donor_id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Current consent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COLLECTION_EVENTS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PK collection_id; FK donor_id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Collection event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SAMPLE_TYPES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PK sample_type_id; UQ type_name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Sample lookup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STORAGE_LOCATIONS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PK location_id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Physical storage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PK sample_id; UQ sample_code; 3 FKs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Main biospecimen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ALIQUOTS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PK aliquot_id; UQ aliquot_code; FK sample_id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Sample portions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RESEARCHERS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PK researcher_id; UQ researcher_code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Researchers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TEST_TYPES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PK test_type_id; UQ test_name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Test lookup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TEST_REQUESTS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PK request_id; FK researcher_id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Lab requests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631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SAMPLE_TEST_REQUESTS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Composite PK/FKs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M:N associative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6320"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SAMPLE_USAGE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PK usage_id; FKs aliquot/researcher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69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Usage history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08760" cy="1125826"/>
          </a:xfrm>
          <a:prstGeom prst="rect">
            <a:avLst/>
          </a:prstGeom>
        </p:spPr>
      </p:pic>
      <p:pic>
        <p:nvPicPr>
          <p:cNvPr id="3" name="Picture 2" descr="bio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4592"/>
            <a:ext cx="3154680" cy="1121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2688"/>
            <a:ext cx="12191695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45566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B90000"/>
                </a:solidFill>
                <a:latin typeface="Times New Roman"/>
              </a:defRPr>
            </a:pPr>
            <a:r>
              <a:t>SCHEMA</a:t>
            </a:r>
          </a:p>
        </p:txBody>
      </p:sp>
      <p:pic>
        <p:nvPicPr>
          <p:cNvPr id="7" name="Picture 6" descr="sche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536192"/>
            <a:ext cx="11018520" cy="4800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8932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Times New Roman"/>
              </a:defRPr>
            </a:pPr>
            <a:r>
              <a:t>Key relationships: Donor 1:N Collection Event • Collection Event 1:N Sample • Sample 1:N Aliquot • Researcher 1:N Test Request • Sample N:N Test Request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08760" cy="1125826"/>
          </a:xfrm>
          <a:prstGeom prst="rect">
            <a:avLst/>
          </a:prstGeom>
        </p:spPr>
      </p:pic>
      <p:pic>
        <p:nvPicPr>
          <p:cNvPr id="3" name="Picture 2" descr="bio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4592"/>
            <a:ext cx="3154680" cy="1121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2688"/>
            <a:ext cx="12191695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45566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B90000"/>
                </a:solidFill>
                <a:latin typeface="Times New Roman"/>
              </a:defRPr>
            </a:pPr>
            <a:r>
              <a:t>Normalization to 3NF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324612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B90000"/>
                </a:solidFill>
                <a:latin typeface="Times New Roman"/>
              </a:defRPr>
            </a:pPr>
            <a:r>
              <a:t>1NF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2880360"/>
            <a:ext cx="2606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B3943"/>
                </a:solidFill>
                <a:latin typeface="Times New Roman"/>
              </a:defRPr>
            </a:pPr>
            <a:r>
              <a:t>Atomic values and a primary key for each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828800"/>
            <a:ext cx="324612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B90000"/>
                </a:solidFill>
                <a:latin typeface="Times New Roman"/>
              </a:defRPr>
            </a:pPr>
            <a:r>
              <a:t>2NF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880360"/>
            <a:ext cx="2606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B3943"/>
                </a:solidFill>
                <a:latin typeface="Times New Roman"/>
              </a:defRPr>
            </a:pPr>
            <a:r>
              <a:t>Non-key attributes depend on the whole key. Relationship-specific data stays in SAMPLE_TEST_REQUESTS.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828800"/>
            <a:ext cx="3246120" cy="3108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B90000"/>
                </a:solidFill>
                <a:latin typeface="Times New Roman"/>
              </a:defRPr>
            </a:pPr>
            <a:r>
              <a:t>3NF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880360"/>
            <a:ext cx="2606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B3943"/>
                </a:solidFill>
                <a:latin typeface="Times New Roman"/>
              </a:defRPr>
            </a:pPr>
            <a:r>
              <a:t>Related concepts are separated into their own tables, reducing duplication and update problems.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257800"/>
            <a:ext cx="9509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B3943"/>
                </a:solidFill>
                <a:latin typeface="Times New Roman"/>
              </a:defRPr>
            </a:pPr>
            <a:r>
              <a:t>Example: storage details are stored once in STORAGE_LOCATIONS instead of being repeated across many sample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08760" cy="1125826"/>
          </a:xfrm>
          <a:prstGeom prst="rect">
            <a:avLst/>
          </a:prstGeom>
        </p:spPr>
      </p:pic>
      <p:pic>
        <p:nvPicPr>
          <p:cNvPr id="3" name="Picture 2" descr="bio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4592"/>
            <a:ext cx="3154680" cy="1121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2688"/>
            <a:ext cx="12191695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45566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B90000"/>
                </a:solidFill>
                <a:latin typeface="Times New Roman"/>
              </a:defRPr>
            </a:pPr>
            <a:r>
              <a:t>DDL CODES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53492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572768"/>
            <a:ext cx="534924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B90000"/>
                </a:solidFill>
                <a:latin typeface="Times New Roman"/>
              </a:defRPr>
            </a:pPr>
            <a:r>
              <a:t>DONORS / SAMPLES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4663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B3943"/>
                </a:solidFill>
                <a:latin typeface="Times New Roman"/>
              </a:defRPr>
            </a:pPr>
            <a:r>
              <a:t>CREATE TABLE donors (</a:t>
            </a:r>
            <a:br/>
            <a:r>
              <a:t>  donor_id INTEGER PRIMARY KEY,</a:t>
            </a:r>
            <a:br/>
            <a:r>
              <a:t>  donor_code VARCHAR(20) UNIQUE,</a:t>
            </a:r>
            <a:br/>
            <a:r>
              <a:t>  first_name VARCHAR(50),</a:t>
            </a:r>
            <a:br/>
            <a:r>
              <a:t>  last_name VARCHAR(50),</a:t>
            </a:r>
            <a:br/>
            <a:r>
              <a:t>  email VARCHAR(120) UNIQUE,</a:t>
            </a:r>
            <a:br/>
            <a:r>
              <a:t>  status VARCHAR(15)</a:t>
            </a:r>
            <a:br/>
            <a:r>
              <a:t>);</a:t>
            </a:r>
            <a:br/>
            <a:br/>
            <a:r>
              <a:t>CREATE TABLE samples (</a:t>
            </a:r>
            <a:br/>
            <a:r>
              <a:t>  sample_id INTEGER PRIMARY KEY,</a:t>
            </a:r>
            <a:br/>
            <a:r>
              <a:t>  sample_code VARCHAR(25) UNIQUE,</a:t>
            </a:r>
            <a:br/>
            <a:r>
              <a:t>  collection_id INTEGER REFERENCES collection_events,</a:t>
            </a:r>
            <a:br/>
            <a:r>
              <a:t>  sample_type_id INTEGER REFERENCES sample_types,</a:t>
            </a:r>
            <a:br/>
            <a:r>
              <a:t>  location_id INTEGER REFERENCES storage_locations,</a:t>
            </a:r>
            <a:br/>
            <a:r>
              <a:t>  available_volume_ml NUMERIC,</a:t>
            </a:r>
            <a:br/>
            <a:r>
              <a:t>  CHECK (available_volume_ml &lt;= collection_volume_ml)</a:t>
            </a:r>
            <a:br/>
            <a:r>
              <a:t>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B90000"/>
                </a:solidFill>
                <a:latin typeface="Times New Roman"/>
              </a:defRPr>
            </a:pPr>
            <a:r>
              <a:t>M:N + USAGE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95728"/>
            <a:ext cx="4663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B3943"/>
                </a:solidFill>
                <a:latin typeface="Times New Roman"/>
              </a:defRPr>
            </a:pPr>
            <a:r>
              <a:t>CREATE TABLE sample_test_requests (</a:t>
            </a:r>
            <a:br/>
            <a:r>
              <a:t>  sample_id INTEGER REFERENCES samples,</a:t>
            </a:r>
            <a:br/>
            <a:r>
              <a:t>  request_id INTEGER REFERENCES test_requests,</a:t>
            </a:r>
            <a:br/>
            <a:r>
              <a:t>  test_type_id INTEGER REFERENCES test_types,</a:t>
            </a:r>
            <a:br/>
            <a:r>
              <a:t>  requested_volume_ml NUMERIC,</a:t>
            </a:r>
            <a:br/>
            <a:r>
              <a:t>  result_status VARCHAR(15),</a:t>
            </a:r>
            <a:br/>
            <a:r>
              <a:t>  PRIMARY KEY (sample_id, request_id)</a:t>
            </a:r>
            <a:br/>
            <a:r>
              <a:t>);</a:t>
            </a:r>
            <a:br/>
            <a:br/>
            <a:r>
              <a:t>CREATE TABLE sample_usage (</a:t>
            </a:r>
            <a:br/>
            <a:r>
              <a:t>  usage_id INTEGER PRIMARY KEY,</a:t>
            </a:r>
            <a:br/>
            <a:r>
              <a:t>  aliquot_id INTEGER REFERENCES aliquots,</a:t>
            </a:r>
            <a:br/>
            <a:r>
              <a:t>  researcher_id INTEGER REFERENCES researchers,</a:t>
            </a:r>
            <a:br/>
            <a:r>
              <a:t>  volume_used_ml NUMERIC CHECK (volume_used_ml &gt; 0)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08760" cy="1125826"/>
          </a:xfrm>
          <a:prstGeom prst="rect">
            <a:avLst/>
          </a:prstGeom>
        </p:spPr>
      </p:pic>
      <p:pic>
        <p:nvPicPr>
          <p:cNvPr id="3" name="Picture 2" descr="bio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4592"/>
            <a:ext cx="3154680" cy="1121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2688"/>
            <a:ext cx="12191695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45566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Times New Roman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B90000"/>
                </a:solidFill>
                <a:latin typeface="Times New Roman"/>
              </a:defRPr>
            </a:pPr>
            <a:r>
              <a:t>DML CODES AND TEST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52120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6480" y="1572768"/>
            <a:ext cx="5440680" cy="4526280"/>
          </a:xfrm>
          <a:prstGeom prst="roundRect">
            <a:avLst/>
          </a:prstGeom>
          <a:solidFill>
            <a:srgbClr val="F5E6DB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90000"/>
                </a:solidFill>
                <a:latin typeface="Times New Roman"/>
              </a:defRPr>
            </a:pPr>
            <a:r>
              <a:t>Sample DML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4526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3943"/>
                </a:solidFill>
                <a:latin typeface="Times New Roman"/>
              </a:defRPr>
            </a:pPr>
            <a:r>
              <a:t>INSERT INTO donors VALUES</a:t>
            </a:r>
            <a:br/>
            <a:r>
              <a:t>(1,'D001','Mariam','Hassan', ...);</a:t>
            </a:r>
            <a:br/>
            <a:br/>
            <a:r>
              <a:t>INSERT INTO samples VALUES</a:t>
            </a:r>
            <a:br/>
            <a:r>
              <a:t>(1,'SMP001',1,1,1,10,7,'ACCEPTED',...);</a:t>
            </a:r>
            <a:br/>
            <a:br/>
            <a:r>
              <a:t>INSERT INTO test_requests VALUES</a:t>
            </a:r>
            <a:br/>
            <a:r>
              <a:t>(1,1,'2025-09-15','HIGH',...,'PENDING');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90000"/>
                </a:solidFill>
                <a:latin typeface="Times New Roman"/>
              </a:defRPr>
            </a:pPr>
            <a:r>
              <a:t>Loaded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297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Donors — 10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Researchers — 10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Consent records — 10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Collection events — 10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Storage locations — 10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Samples — 10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Aliquots — 12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Test types — 10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Test requests — 10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Sample-test requests — 11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Sample usage —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08760" cy="1125826"/>
          </a:xfrm>
          <a:prstGeom prst="rect">
            <a:avLst/>
          </a:prstGeom>
        </p:spPr>
      </p:pic>
      <p:pic>
        <p:nvPicPr>
          <p:cNvPr id="3" name="Picture 2" descr="bio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4592"/>
            <a:ext cx="3154680" cy="1121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2688"/>
            <a:ext cx="12191695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45566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Times New Roman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B90000"/>
                </a:solidFill>
                <a:latin typeface="Times New Roman"/>
              </a:defRPr>
            </a:pPr>
            <a:r>
              <a:t>SQL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52120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6480" y="1572768"/>
            <a:ext cx="54406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90000"/>
                </a:solidFill>
                <a:latin typeface="Times New Roman"/>
              </a:defRPr>
            </a:pPr>
            <a:r>
              <a:t>Required operations included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B3943"/>
                </a:solidFill>
                <a:latin typeface="Times New Roman"/>
              </a:defRPr>
            </a:pPr>
            <a:r>
              <a:t>• Retrieval</a:t>
            </a:r>
          </a:p>
          <a:p>
            <a:pPr>
              <a:spcAft>
                <a:spcPts val="500"/>
              </a:spcAft>
              <a:defRPr sz="1700">
                <a:solidFill>
                  <a:srgbClr val="2B3943"/>
                </a:solidFill>
                <a:latin typeface="Times New Roman"/>
              </a:defRPr>
            </a:pPr>
            <a:r>
              <a:t>• Multi-table JOINs</a:t>
            </a:r>
          </a:p>
          <a:p>
            <a:pPr>
              <a:spcAft>
                <a:spcPts val="500"/>
              </a:spcAft>
              <a:defRPr sz="1700">
                <a:solidFill>
                  <a:srgbClr val="2B3943"/>
                </a:solidFill>
                <a:latin typeface="Times New Roman"/>
              </a:defRPr>
            </a:pPr>
            <a:r>
              <a:t>• Aggregation with COUNT / SUM</a:t>
            </a:r>
          </a:p>
          <a:p>
            <a:pPr>
              <a:spcAft>
                <a:spcPts val="500"/>
              </a:spcAft>
              <a:defRPr sz="1700">
                <a:solidFill>
                  <a:srgbClr val="2B3943"/>
                </a:solidFill>
                <a:latin typeface="Times New Roman"/>
              </a:defRPr>
            </a:pPr>
            <a:r>
              <a:t>• Subqueries</a:t>
            </a:r>
          </a:p>
          <a:p>
            <a:pPr>
              <a:spcAft>
                <a:spcPts val="500"/>
              </a:spcAft>
              <a:defRPr sz="1700">
                <a:solidFill>
                  <a:srgbClr val="2B3943"/>
                </a:solidFill>
                <a:latin typeface="Times New Roman"/>
              </a:defRPr>
            </a:pPr>
            <a:r>
              <a:t>• INSERT</a:t>
            </a:r>
          </a:p>
          <a:p>
            <a:pPr>
              <a:spcAft>
                <a:spcPts val="500"/>
              </a:spcAft>
              <a:defRPr sz="1700">
                <a:solidFill>
                  <a:srgbClr val="2B3943"/>
                </a:solidFill>
                <a:latin typeface="Times New Roman"/>
              </a:defRPr>
            </a:pPr>
            <a:r>
              <a:t>• UPDATE</a:t>
            </a:r>
          </a:p>
          <a:p>
            <a:pPr>
              <a:spcAft>
                <a:spcPts val="500"/>
              </a:spcAft>
              <a:defRPr sz="1700">
                <a:solidFill>
                  <a:srgbClr val="2B3943"/>
                </a:solidFill>
                <a:latin typeface="Times New Roman"/>
              </a:defRPr>
            </a:pPr>
            <a:r>
              <a:t>• DELETE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90000"/>
                </a:solidFill>
                <a:latin typeface="Times New Roman"/>
              </a:defRPr>
            </a:pPr>
            <a:r>
              <a:t>Example 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B3943"/>
                </a:solidFill>
                <a:latin typeface="Times New Roman"/>
              </a:defRPr>
            </a:pPr>
            <a:r>
              <a:t>SELECT s.sample_code, d.donor_code,</a:t>
            </a:r>
            <a:br/>
            <a:r>
              <a:t>       st.type_name, sl.freezer_code</a:t>
            </a:r>
            <a:br/>
            <a:r>
              <a:t>FROM samples s</a:t>
            </a:r>
            <a:br/>
            <a:r>
              <a:t>JOIN collection_events ce</a:t>
            </a:r>
            <a:br/>
            <a:r>
              <a:t>  ON ce.collection_id = s.collection_id</a:t>
            </a:r>
            <a:br/>
            <a:r>
              <a:t>JOIN donors d ON d.donor_id = ce.donor_id</a:t>
            </a:r>
            <a:br/>
            <a:r>
              <a:t>JOIN sample_types st</a:t>
            </a:r>
            <a:br/>
            <a:r>
              <a:t>  ON st.sample_type_id = s.sample_type_id</a:t>
            </a:r>
            <a:br/>
            <a:r>
              <a:t>JOIN storage_locations sl</a:t>
            </a:r>
            <a:br/>
            <a:r>
              <a:t>  ON sl.location_id = s.location_id;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08760" cy="1125826"/>
          </a:xfrm>
          <a:prstGeom prst="rect">
            <a:avLst/>
          </a:prstGeom>
        </p:spPr>
      </p:pic>
      <p:pic>
        <p:nvPicPr>
          <p:cNvPr id="3" name="Picture 2" descr="bio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4592"/>
            <a:ext cx="3154680" cy="1121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2688"/>
            <a:ext cx="12191695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45566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Times New Roman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B90000"/>
                </a:solidFill>
                <a:latin typeface="Times New Roman"/>
              </a:defRPr>
            </a:pPr>
            <a:r>
              <a:t>VIEWS AND ADVANCED DATABASE OBJECT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521208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6480" y="1572768"/>
            <a:ext cx="5440680" cy="4526280"/>
          </a:xfrm>
          <a:prstGeom prst="roundRect">
            <a:avLst/>
          </a:prstGeom>
          <a:solidFill>
            <a:srgbClr val="F5E6DB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B90000"/>
                </a:solidFill>
                <a:latin typeface="Times New Roman"/>
              </a:defRPr>
            </a:pPr>
            <a:r>
              <a:t>VIEW 1 — sample_inventory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B3943"/>
                </a:solidFill>
                <a:latin typeface="Times New Roman"/>
              </a:defRPr>
            </a:pPr>
            <a:r>
              <a:t>Combines sample + donor + sample type + storage information.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429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B90000"/>
                </a:solidFill>
                <a:latin typeface="Times New Roman"/>
              </a:defRPr>
            </a:pPr>
            <a:r>
              <a:t>VIEW 2 — pending_test_requests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023360"/>
            <a:ext cx="4526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B3943"/>
                </a:solidFill>
                <a:latin typeface="Times New Roman"/>
              </a:defRPr>
            </a:pPr>
            <a:r>
              <a:t>Shows pending/in-progress requests, researcher, priority, status, and linked sample count.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B90000"/>
                </a:solidFill>
                <a:latin typeface="Times New Roman"/>
              </a:defRPr>
            </a:pPr>
            <a:r>
              <a:t>TRIGGER — manage_aliquot_usage()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68880"/>
            <a:ext cx="4480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B3943"/>
                </a:solidFill>
                <a:latin typeface="Times New Roman"/>
              </a:defRPr>
            </a:pPr>
            <a:r>
              <a:t>Checks the aliquot's remaining volume before use. Valid usage reduces the remaining volume. Over-use is rejected, and deleting a usage record restores the volume.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08760" cy="1125826"/>
          </a:xfrm>
          <a:prstGeom prst="rect">
            <a:avLst/>
          </a:prstGeom>
        </p:spPr>
      </p:pic>
      <p:pic>
        <p:nvPicPr>
          <p:cNvPr id="3" name="Picture 2" descr="bio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4592"/>
            <a:ext cx="3154680" cy="1121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2688"/>
            <a:ext cx="12191695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45566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Times New Roman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B90000"/>
                </a:solidFill>
                <a:latin typeface="Times New Roman"/>
              </a:defRPr>
            </a:pPr>
            <a:r>
              <a:t>TEST CASES AND TESTING EVIDENCE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691640"/>
          <a:ext cx="10332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90000"/>
                          </a:solidFill>
                          <a:latin typeface="Times New Roman"/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90000"/>
                          </a:solidFill>
                          <a:latin typeface="Times New Roman"/>
                        </a:defRPr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B90000"/>
                          </a:solidFill>
                          <a:latin typeface="Times New Roman"/>
                        </a:defRPr>
                      </a:pPr>
                      <a:r>
                        <a:t>Expected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T01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Duplicate donor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rPr dirty="0"/>
                        <a:t>Rejected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T02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Invalid sample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Rejected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T03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Invalid foreign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Rejected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T04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Valid aliquot 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Volume decreases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T05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Delete usage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Volume restored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9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T06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t>Over-use aliquot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B3943"/>
                          </a:solidFill>
                          <a:latin typeface="Times New Roman"/>
                        </a:defRPr>
                      </a:pPr>
                      <a:r>
                        <a:rPr dirty="0"/>
                        <a:t>Trigger rejects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08760" cy="1125826"/>
          </a:xfrm>
          <a:prstGeom prst="rect">
            <a:avLst/>
          </a:prstGeom>
        </p:spPr>
      </p:pic>
      <p:pic>
        <p:nvPicPr>
          <p:cNvPr id="3" name="Picture 2" descr="bio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4592"/>
            <a:ext cx="3154680" cy="1121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2688"/>
            <a:ext cx="12191695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45566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Times New Roman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B90000"/>
                </a:solidFill>
                <a:latin typeface="Times New Roman"/>
              </a:defRPr>
            </a:pPr>
            <a:r>
              <a:t>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10972800" cy="4526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5486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B90000"/>
                </a:solidFill>
                <a:latin typeface="Times New Roman"/>
              </a:defRPr>
            </a:pPr>
            <a:r>
              <a:rPr dirty="0"/>
              <a:t>The database was implemented using</a:t>
            </a:r>
            <a:r>
              <a:rPr lang="en-US" dirty="0"/>
              <a:t> </a:t>
            </a:r>
            <a:r>
              <a:rPr dirty="0"/>
              <a:t>SQL</a:t>
            </a:r>
            <a:r>
              <a:rPr lang="en-US" dirty="0"/>
              <a:t> Workbench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B3943"/>
                </a:solidFill>
                <a:latin typeface="Times New Roman"/>
              </a:defRPr>
            </a:pPr>
            <a:r>
              <a:t>The SQL files were separated by purpose to make the project easier to run and understand.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46120"/>
            <a:ext cx="9509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create_tables.sql — tables, keys, constraints, indexes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load_data.sql — project test data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queries.sql — retrieval, joins, aggregation, subqueries, INSERT/UPDATE/DELETE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views.sql — two reporting views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triggers_procedures.sql — trigger and function</a:t>
            </a:r>
          </a:p>
          <a:p>
            <a:pPr>
              <a:spcAft>
                <a:spcPts val="500"/>
              </a:spcAft>
              <a:defRPr sz="1500">
                <a:solidFill>
                  <a:srgbClr val="2B3943"/>
                </a:solidFill>
                <a:latin typeface="Times New Roman"/>
              </a:defRPr>
            </a:pPr>
            <a:r>
              <a:t>• testing.sql — constraint and trigger tests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i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08760" cy="1125826"/>
          </a:xfrm>
          <a:prstGeom prst="rect">
            <a:avLst/>
          </a:prstGeom>
        </p:spPr>
      </p:pic>
      <p:pic>
        <p:nvPicPr>
          <p:cNvPr id="3" name="Picture 2" descr="biotec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64592"/>
            <a:ext cx="3154680" cy="112133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2688"/>
            <a:ext cx="12191695" cy="9144"/>
          </a:xfrm>
          <a:prstGeom prst="rect">
            <a:avLst/>
          </a:prstGeom>
          <a:solidFill>
            <a:srgbClr val="E1E1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35640" y="645566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55555"/>
                </a:solidFill>
                <a:latin typeface="Times New Roman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B90000"/>
                </a:solidFill>
                <a:latin typeface="Times New Roman"/>
              </a:defRPr>
            </a:pPr>
            <a:r>
              <a:t>LIMITATIONS AND CONCLUSION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5257800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6480" y="1572768"/>
            <a:ext cx="5440680" cy="4480560"/>
          </a:xfrm>
          <a:prstGeom prst="roundRect">
            <a:avLst/>
          </a:prstGeom>
          <a:solidFill>
            <a:srgbClr val="F5E6DB"/>
          </a:solidFill>
          <a:ln w="10160">
            <a:solidFill>
              <a:srgbClr val="DC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B90000"/>
                </a:solidFill>
                <a:latin typeface="Times New Roman"/>
              </a:defRPr>
            </a:pPr>
            <a: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B3943"/>
                </a:solidFill>
                <a:latin typeface="Times New Roman"/>
              </a:defRPr>
            </a:pPr>
            <a:r>
              <a:t>• One current consent record per donor</a:t>
            </a:r>
          </a:p>
          <a:p>
            <a:pPr>
              <a:spcAft>
                <a:spcPts val="500"/>
              </a:spcAft>
              <a:defRPr sz="1600">
                <a:solidFill>
                  <a:srgbClr val="2B3943"/>
                </a:solidFill>
                <a:latin typeface="Times New Roman"/>
              </a:defRPr>
            </a:pPr>
            <a:r>
              <a:t>• Synthetic data only</a:t>
            </a:r>
          </a:p>
          <a:p>
            <a:pPr>
              <a:spcAft>
                <a:spcPts val="500"/>
              </a:spcAft>
              <a:defRPr sz="1600">
                <a:solidFill>
                  <a:srgbClr val="2B3943"/>
                </a:solidFill>
                <a:latin typeface="Times New Roman"/>
              </a:defRPr>
            </a:pPr>
            <a:r>
              <a:t>• No user accounts, permissions, audit logs, or backups</a:t>
            </a:r>
          </a:p>
          <a:p>
            <a:pPr>
              <a:spcAft>
                <a:spcPts val="500"/>
              </a:spcAft>
              <a:defRPr sz="1600">
                <a:solidFill>
                  <a:srgbClr val="2B3943"/>
                </a:solidFill>
                <a:latin typeface="Times New Roman"/>
              </a:defRPr>
            </a:pPr>
            <a:r>
              <a:t>• Focus is sample management and research use</a:t>
            </a:r>
          </a:p>
          <a:p>
            <a:pPr>
              <a:spcAft>
                <a:spcPts val="500"/>
              </a:spcAft>
              <a:defRPr sz="1600">
                <a:solidFill>
                  <a:srgbClr val="2B3943"/>
                </a:solidFill>
                <a:latin typeface="Times New Roman"/>
              </a:defRPr>
            </a:pPr>
            <a:r>
              <a:t>• Production use would need more validation and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B90000"/>
                </a:solidFill>
                <a:latin typeface="Times New Roman"/>
              </a:defRPr>
            </a:pPr>
            <a: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44805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B3943"/>
                </a:solidFill>
                <a:latin typeface="Times New Roman"/>
              </a:defRPr>
            </a:pPr>
            <a:r>
              <a:t>BioBanker connects donor enrollment and consent through collection, storage, aliquoting, laboratory requests, and sample use. Separate tables, the associative M:N table, constraints, views, and the trigger make the database practical and easier to maintain.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89204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B3943"/>
                </a:solidFill>
                <a:latin typeface="Times New Roman"/>
              </a:defRPr>
            </a:pPr>
            <a:r>
              <a:t>The project demonstrates the main database operations and design decisions needed for the course.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1387</Words>
  <Application>Microsoft Macintosh PowerPoint</Application>
  <PresentationFormat>Widescreen</PresentationFormat>
  <Paragraphs>177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Jana sherif Abdelrehim</cp:lastModifiedBy>
  <cp:revision>2</cp:revision>
  <dcterms:created xsi:type="dcterms:W3CDTF">2013-01-27T09:14:16Z</dcterms:created>
  <dcterms:modified xsi:type="dcterms:W3CDTF">2026-08-15T23:03:28Z</dcterms:modified>
  <cp:category/>
</cp:coreProperties>
</file>