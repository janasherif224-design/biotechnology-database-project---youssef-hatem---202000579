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B90000"/>
                </a:solidFill>
                <a:latin typeface="Times New Roman"/>
              </a:defRPr>
            </a:pPr>
            <a:r>
              <a:t>Fundamentals of Databases (CBIO204)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574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Spring,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260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B90000"/>
                </a:solidFill>
                <a:latin typeface="Times New Roman"/>
              </a:defRPr>
            </a:pPr>
            <a:r>
              <a:t>Biobank and Biospecimen Management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2B3943"/>
                </a:solidFill>
                <a:latin typeface="Times New Roman"/>
              </a:defRPr>
            </a:pPr>
            <a:r>
              <a:t>Student: Youssef Hatem - 202000579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55555"/>
                </a:solidFill>
                <a:latin typeface="Times New Roman"/>
              </a:defRPr>
            </a:pPr>
            <a:r>
              <a:t>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5440680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5440680" cy="3886200"/>
          </a:xfrm>
          <a:prstGeom prst="roundRect">
            <a:avLst/>
          </a:prstGeom>
          <a:solidFill>
            <a:srgbClr val="F5E6DB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What is BioBanker?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45720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B3943"/>
                </a:solidFill>
                <a:latin typeface="Times New Roman"/>
              </a:defRPr>
            </a:pPr>
            <a:r>
              <a:t>BioBanker is a database for managing a small research biobank. It keeps donor, consent, collection, sample, storage, aliquot, researcher, test-request, and usage information connected.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The project focuses on research biospecimen management rather than clinical diagnosis or treatment. The donor data is synthetic.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84831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Project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44805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Manage donors and consent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Record collection events and sample types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Track freezer/shelf/box storage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Manage samples and aliquots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Record researchers and test requests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Record sample usage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Requirements and Business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19072"/>
            <a:ext cx="553212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9632" y="1719072"/>
            <a:ext cx="5486400" cy="4251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385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Main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47548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Manage donor and consent information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Record collection events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Manage samples, sample types, and storage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Manage aliquots and remaining volume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Record researchers and test requests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Connect samples and requests using an associative table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Record actual sample usage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385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Major business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4600"/>
            <a:ext cx="46634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Donor/sample/researcher/aliquot codes are unique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Foreign keys must reference valid records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Available volume cannot exceed collected volume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Aliquot current volume cannot exceed original volume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One request belongs to one researcher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Samples and requests have an M:N relationship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Aliquot over-use is rejected by the trigger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Entity-Relationship Diagram (ERD)</a:t>
            </a:r>
          </a:p>
        </p:txBody>
      </p:sp>
      <p:pic>
        <p:nvPicPr>
          <p:cNvPr id="7" name="Picture 6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00200"/>
            <a:ext cx="112014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Entities and Key Decisions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00200"/>
          <a:ext cx="1115568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  <a:gridCol w="4434840"/>
              </a:tblGrid>
              <a:tr h="3763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Key 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Purpose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DONORS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donor_id; UQ donor_code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Donor records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CONSENT_RECORDS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consent_id; FK donor_id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Current consent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COLLECTION_EVENTS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collection_id; FK donor_id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Collection event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SAMPLE_TYPES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sample_type_id; UQ type_name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 lookup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STORAGE_LOCATIONS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location_id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Physical storage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sample_id; UQ sample_code; 3 FKs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Main biospecimen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ALIQUOTS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aliquot_id; UQ aliquot_code; FK sample_id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 portions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researcher_id; UQ researcher_code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TEST_TYPES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test_type_id; UQ test_name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Test lookup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TEST_REQUESTS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request_id; FK researcher_id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Lab requests</a:t>
                      </a:r>
                    </a:p>
                  </a:txBody>
                  <a:tcPr/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SAMPLE_TEST_REQUESTS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Composite PK/FKs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M:N associative table</a:t>
                      </a:r>
                    </a:p>
                  </a:txBody>
                  <a:tcPr/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SAMPLE_USAGE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PK usage_id; FKs aliquot/researcher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69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Usage history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SCHEMA</a:t>
            </a:r>
          </a:p>
        </p:txBody>
      </p:sp>
      <p:pic>
        <p:nvPicPr>
          <p:cNvPr id="7" name="Picture 6" descr="sche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36192"/>
            <a:ext cx="11018520" cy="4800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989320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55"/>
                </a:solidFill>
                <a:latin typeface="Times New Roman"/>
              </a:defRPr>
            </a:pPr>
            <a:r>
              <a:t>Key relationships: Donor 1:N Collection Event • Collection Event 1:N Sample • Sample 1:N Aliquot • Researcher 1:N Test Request • Sample N:N Test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Normalization to 3NF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24612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B90000"/>
                </a:solidFill>
                <a:latin typeface="Times New Roman"/>
              </a:defRPr>
            </a:pPr>
            <a:r>
              <a:t>1NF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2606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Atomic values and a primary key for each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828800"/>
            <a:ext cx="324612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48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B90000"/>
                </a:solidFill>
                <a:latin typeface="Times New Roman"/>
              </a:defRPr>
            </a:pPr>
            <a:r>
              <a:t>2NF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880360"/>
            <a:ext cx="2606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Non-key attributes depend on the whole key. Relationship-specific data stays in SAMPLE_TEST_REQUESTS.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28800"/>
            <a:ext cx="324612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488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B90000"/>
                </a:solidFill>
                <a:latin typeface="Times New Roman"/>
              </a:defRPr>
            </a:pPr>
            <a: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880360"/>
            <a:ext cx="2606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Related concepts are separated into their own tables, reducing duplication and update problems.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5780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2B3943"/>
                </a:solidFill>
                <a:latin typeface="Times New Roman"/>
              </a:defRPr>
            </a:pPr>
            <a:r>
              <a:t>Example: storage details are stored once in STORAGE_LOCATIONS instead of being repeated across many sample records.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DDL CODES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349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349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B90000"/>
                </a:solidFill>
                <a:latin typeface="Times New Roman"/>
              </a:defRPr>
            </a:pPr>
            <a:r>
              <a:t>DONORS / SAMPLES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B3943"/>
                </a:solidFill>
                <a:latin typeface="Times New Roman"/>
              </a:defRPr>
            </a:pPr>
            <a:r>
              <a:t>CREATE TABLE donors (</a:t>
            </a:r>
            <a:br/>
            <a:r>
              <a:t>  donor_id INTEGER PRIMARY KEY,</a:t>
            </a:r>
            <a:br/>
            <a:r>
              <a:t>  donor_code VARCHAR(20) UNIQUE,</a:t>
            </a:r>
            <a:br/>
            <a:r>
              <a:t>  first_name VARCHAR(50),</a:t>
            </a:r>
            <a:br/>
            <a:r>
              <a:t>  last_name VARCHAR(50),</a:t>
            </a:r>
            <a:br/>
            <a:r>
              <a:t>  email VARCHAR(120) UNIQUE,</a:t>
            </a:r>
            <a:br/>
            <a:r>
              <a:t>  status VARCHAR(15)</a:t>
            </a:r>
            <a:br/>
            <a:r>
              <a:t>);</a:t>
            </a:r>
            <a:br/>
            <a:br/>
            <a:r>
              <a:t>CREATE TABLE samples (</a:t>
            </a:r>
            <a:br/>
            <a:r>
              <a:t>  sample_id INTEGER PRIMARY KEY,</a:t>
            </a:r>
            <a:br/>
            <a:r>
              <a:t>  sample_code VARCHAR(25) UNIQUE,</a:t>
            </a:r>
            <a:br/>
            <a:r>
              <a:t>  collection_id INTEGER REFERENCES collection_events,</a:t>
            </a:r>
            <a:br/>
            <a:r>
              <a:t>  sample_type_id INTEGER REFERENCES sample_types,</a:t>
            </a:r>
            <a:br/>
            <a:r>
              <a:t>  location_id INTEGER REFERENCES storage_locations,</a:t>
            </a:r>
            <a:br/>
            <a:r>
              <a:t>  available_volume_ml NUMERIC,</a:t>
            </a:r>
            <a:br/>
            <a:r>
              <a:t>  CHECK (available_volume_ml &lt;= collection_volume_ml)</a:t>
            </a:r>
            <a:br/>
            <a:r>
              <a:t>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B90000"/>
                </a:solidFill>
                <a:latin typeface="Times New Roman"/>
              </a:defRPr>
            </a:pPr>
            <a:r>
              <a:t>M:N + USAGE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95728"/>
            <a:ext cx="46634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B3943"/>
                </a:solidFill>
                <a:latin typeface="Times New Roman"/>
              </a:defRPr>
            </a:pPr>
            <a:r>
              <a:t>CREATE TABLE sample_test_requests (</a:t>
            </a:r>
            <a:br/>
            <a:r>
              <a:t>  sample_id INTEGER REFERENCES samples,</a:t>
            </a:r>
            <a:br/>
            <a:r>
              <a:t>  request_id INTEGER REFERENCES test_requests,</a:t>
            </a:r>
            <a:br/>
            <a:r>
              <a:t>  test_type_id INTEGER REFERENCES test_types,</a:t>
            </a:r>
            <a:br/>
            <a:r>
              <a:t>  requested_volume_ml NUMERIC,</a:t>
            </a:r>
            <a:br/>
            <a:r>
              <a:t>  result_status VARCHAR(15),</a:t>
            </a:r>
            <a:br/>
            <a:r>
              <a:t>  PRIMARY KEY (sample_id, request_id)</a:t>
            </a:r>
            <a:br/>
            <a:r>
              <a:t>);</a:t>
            </a:r>
            <a:br/>
            <a:br/>
            <a:r>
              <a:t>CREATE TABLE sample_usage (</a:t>
            </a:r>
            <a:br/>
            <a:r>
              <a:t>  usage_id INTEGER PRIMARY KEY,</a:t>
            </a:r>
            <a:br/>
            <a:r>
              <a:t>  aliquot_id INTEGER REFERENCES aliquots,</a:t>
            </a:r>
            <a:br/>
            <a:r>
              <a:t>  researcher_id INTEGER REFERENCES researchers,</a:t>
            </a:r>
            <a:br/>
            <a:r>
              <a:t>  volume_used_ml NUMERIC CHECK (volume_used_ml &gt; 0)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DML CODES AND TEST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2120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572768"/>
            <a:ext cx="5440680" cy="4526280"/>
          </a:xfrm>
          <a:prstGeom prst="roundRect">
            <a:avLst/>
          </a:prstGeom>
          <a:solidFill>
            <a:srgbClr val="F5E6DB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Sample DML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68880"/>
            <a:ext cx="4526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3943"/>
                </a:solidFill>
                <a:latin typeface="Times New Roman"/>
              </a:defRPr>
            </a:pPr>
            <a:r>
              <a:t>INSERT INTO donors VALUES</a:t>
            </a:r>
            <a:br/>
            <a:r>
              <a:t>(1,'D001','Mariam','Hassan', ...);</a:t>
            </a:r>
            <a:br/>
            <a:br/>
            <a:r>
              <a:t>INSERT INTO samples VALUES</a:t>
            </a:r>
            <a:br/>
            <a:r>
              <a:t>(1,'SMP001',1,1,1,10,7,'ACCEPTED',...);</a:t>
            </a:r>
            <a:br/>
            <a:br/>
            <a:r>
              <a:t>INSERT INTO test_requests VALUES</a:t>
            </a:r>
            <a:br/>
            <a:r>
              <a:t>(1,1,'2025-09-15','HIGH',...,'PENDING');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Loaded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Donors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Researchers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Consent records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Collection events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Storage locations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Samples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Aliquots — 12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Test types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Test requests — 10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Sample-test requests — 11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Sample usage —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SQL QUERIES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2120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572768"/>
            <a:ext cx="54406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Required operations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4389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Retrieval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Multi-table JOINs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Aggregation with COUNT / SUM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Subqueries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INSERT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UPDATE</a:t>
            </a:r>
          </a:p>
          <a:p>
            <a:pPr>
              <a:spcAft>
                <a:spcPts val="500"/>
              </a:spcAft>
              <a:defRPr sz="1700">
                <a:solidFill>
                  <a:srgbClr val="2B3943"/>
                </a:solidFill>
                <a:latin typeface="Times New Roman"/>
              </a:defRPr>
            </a:pPr>
            <a:r>
              <a:t>• DELETE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90000"/>
                </a:solidFill>
                <a:latin typeface="Times New Roman"/>
              </a:defRPr>
            </a:pPr>
            <a:r>
              <a:t>Example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B3943"/>
                </a:solidFill>
                <a:latin typeface="Times New Roman"/>
              </a:defRPr>
            </a:pPr>
            <a:r>
              <a:t>SELECT s.sample_code, d.donor_code,</a:t>
            </a:r>
            <a:br/>
            <a:r>
              <a:t>       st.type_name, sl.freezer_code</a:t>
            </a:r>
            <a:br/>
            <a:r>
              <a:t>FROM samples s</a:t>
            </a:r>
            <a:br/>
            <a:r>
              <a:t>JOIN collection_events ce</a:t>
            </a:r>
            <a:br/>
            <a:r>
              <a:t>  ON ce.collection_id = s.collection_id</a:t>
            </a:r>
            <a:br/>
            <a:r>
              <a:t>JOIN donors d ON d.donor_id = ce.donor_id</a:t>
            </a:r>
            <a:br/>
            <a:r>
              <a:t>JOIN sample_types st</a:t>
            </a:r>
            <a:br/>
            <a:r>
              <a:t>  ON st.sample_type_id = s.sample_type_id</a:t>
            </a:r>
            <a:br/>
            <a:r>
              <a:t>JOIN storage_locations sl</a:t>
            </a:r>
            <a:br/>
            <a:r>
              <a:t>  ON sl.location_id = s.location_id;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VIEWS AND ADVANCED DATABASE OBJECT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21208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572768"/>
            <a:ext cx="5440680" cy="4526280"/>
          </a:xfrm>
          <a:prstGeom prst="roundRect">
            <a:avLst/>
          </a:prstGeom>
          <a:solidFill>
            <a:srgbClr val="F5E6DB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B90000"/>
                </a:solidFill>
                <a:latin typeface="Times New Roman"/>
              </a:defRPr>
            </a:pPr>
            <a:r>
              <a:t>VIEW 1 — sample_inventory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Combines sample + donor + sample type + storage information.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29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B90000"/>
                </a:solidFill>
                <a:latin typeface="Times New Roman"/>
              </a:defRPr>
            </a:pPr>
            <a:r>
              <a:t>VIEW 2 — pending_test_requests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4526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Shows pending/in-progress requests, researcher, priority, status, and linked sample count.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B90000"/>
                </a:solidFill>
                <a:latin typeface="Times New Roman"/>
              </a:defRPr>
            </a:pPr>
            <a:r>
              <a:t>TRIGGER — manage_aliquot_usage()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480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B3943"/>
                </a:solidFill>
                <a:latin typeface="Times New Roman"/>
              </a:defRPr>
            </a:pPr>
            <a:r>
              <a:t>Checks the aliquot's remaining volume before use. Valid usage reduces the remaining volume. Over-use is rejected, and deleting a usage record restores the volume.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0916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3943"/>
                </a:solidFill>
                <a:latin typeface="Times New Roman"/>
              </a:defRPr>
            </a:pPr>
            <a:r>
              <a:t>Normal project requirement — not the +5 bonus.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TEST CASES AND TESTING EVIDENCE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691640"/>
          <a:ext cx="10332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90000"/>
                          </a:solidFill>
                          <a:latin typeface="Times New Roman"/>
                        </a:defRPr>
                      </a:pPr>
                      <a:r>
                        <a:t>Expected result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Duplicate donor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Rejected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Invalid sample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Rejected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Invalid foreign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Rejected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Valid aliquot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Volume decreases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Delete usage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Volume restored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Over-use aliquot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B3943"/>
                          </a:solidFill>
                          <a:latin typeface="Times New Roman"/>
                        </a:defRPr>
                      </a:pPr>
                      <a:r>
                        <a:t>Trigger rejects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440680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90000"/>
                </a:solidFill>
                <a:latin typeface="Times New Roman"/>
              </a:defRPr>
            </a:pPr>
            <a:r>
              <a:t>Execution screenshots will be added after the database is run in the student's PostgreSQL/pgAdmin environment.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52160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Times New Roman"/>
              </a:defRPr>
            </a:pPr>
            <a:r>
              <a:t>Needed evidence: successful table/data load • query result • both views • valid trigger • rejected over-use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1097280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The database was implemented using PostgreSQL.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B3943"/>
                </a:solidFill>
                <a:latin typeface="Times New Roman"/>
              </a:defRPr>
            </a:pPr>
            <a:r>
              <a:t>The SQL files were separated by purpose to make the project easier to run and understand.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9509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create_tables.sql — tables, keys, constraints, indexes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load_data.sql — project test data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queries.sql — retrieval, joins, aggregation, subqueries, INSERT/UPDATE/DELETE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views.sql — two reporting views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triggers_procedures.sql — trigger and function</a:t>
            </a:r>
          </a:p>
          <a:p>
            <a:pPr>
              <a:spcAft>
                <a:spcPts val="500"/>
              </a:spcAft>
              <a:defRPr sz="1500">
                <a:solidFill>
                  <a:srgbClr val="2B3943"/>
                </a:solidFill>
                <a:latin typeface="Times New Roman"/>
              </a:defRPr>
            </a:pPr>
            <a:r>
              <a:t>• testing.sql — constraint and trigger tests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i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1508760" cy="1125826"/>
          </a:xfrm>
          <a:prstGeom prst="rect">
            <a:avLst/>
          </a:prstGeom>
        </p:spPr>
      </p:pic>
      <p:pic>
        <p:nvPicPr>
          <p:cNvPr id="3" name="Picture 2" descr="biotec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64592"/>
            <a:ext cx="3154680" cy="11213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932688"/>
            <a:ext cx="12191695" cy="9144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35640" y="6455664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55555"/>
                </a:solidFill>
                <a:latin typeface="Times New Roman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700">
                <a:solidFill>
                  <a:srgbClr val="B90000"/>
                </a:solidFill>
                <a:latin typeface="Times New Roman"/>
              </a:defRPr>
            </a:pPr>
            <a:r>
              <a:t>LIMITATIONS AND CONCLUSION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257800" cy="4480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572768"/>
            <a:ext cx="5440680" cy="4480560"/>
          </a:xfrm>
          <a:prstGeom prst="roundRect">
            <a:avLst/>
          </a:prstGeom>
          <a:solidFill>
            <a:srgbClr val="F5E6DB"/>
          </a:solidFill>
          <a:ln w="10160">
            <a:solidFill>
              <a:srgbClr val="DC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One current consent record per donor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Synthetic data only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No user accounts, permissions, audit logs, or backups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Focus is sample management and research use</a:t>
            </a:r>
          </a:p>
          <a:p>
            <a:pPr>
              <a:spcAft>
                <a:spcPts val="500"/>
              </a:spcAft>
              <a:defRPr sz="1600">
                <a:solidFill>
                  <a:srgbClr val="2B3943"/>
                </a:solidFill>
                <a:latin typeface="Times New Roman"/>
              </a:defRPr>
            </a:pPr>
            <a:r>
              <a:t>• Production use would need more validation and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B90000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4805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B3943"/>
                </a:solidFill>
                <a:latin typeface="Times New Roman"/>
              </a:defRPr>
            </a:pPr>
            <a:r>
              <a:t>BioBanker connects donor enrollment and consent through collection, storage, aliquoting, laboratory requests, and sample use. Separate tables, the associative M:N table, constraints, views, and the trigger make the database practical and easier to maintain.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9204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B3943"/>
                </a:solidFill>
                <a:latin typeface="Times New Roman"/>
              </a:defRPr>
            </a:pPr>
            <a:r>
              <a:t>The project demonstrates the main database operations and design decisions needed for the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